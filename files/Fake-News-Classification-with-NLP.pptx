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1.png"/><Relationship Id="rId10" Type="http://schemas.openxmlformats.org/officeDocument/2006/relationships/image" Target="../media/image-7-2.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png"/><Relationship Id="rId14" Type="http://schemas.openxmlformats.org/officeDocument/2006/relationships/image" Target="../media/image-7-2.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slideLayout" Target="../slideLayouts/slideLayout2.xml"/><Relationship Id="rId1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591196"/>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Fake News Classification with NLP</a:t>
            </a:r>
            <a:endParaRPr lang="en-US" sz="2750" dirty="0"/>
          </a:p>
        </p:txBody>
      </p:sp>
      <p:sp>
        <p:nvSpPr>
          <p:cNvPr id="4" name="Text 1"/>
          <p:cNvSpPr/>
          <p:nvPr/>
        </p:nvSpPr>
        <p:spPr>
          <a:xfrm>
            <a:off x="496119" y="2689771"/>
            <a:ext cx="5179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Detecting fake vs. real news articles using text classification</a:t>
            </a:r>
            <a:endParaRPr lang="en-US" sz="1100" dirty="0"/>
          </a:p>
        </p:txBody>
      </p:sp>
      <p:sp>
        <p:nvSpPr>
          <p:cNvPr id="5" name="Shape 2"/>
          <p:cNvSpPr/>
          <p:nvPr/>
        </p:nvSpPr>
        <p:spPr>
          <a:xfrm>
            <a:off x="496119" y="3111475"/>
            <a:ext cx="4722763" cy="19050"/>
          </a:xfrm>
          <a:prstGeom prst="roundRect">
            <a:avLst>
              <a:gd name="adj" fmla="val 60000"/>
            </a:avLst>
          </a:prstGeom>
          <a:solidFill>
            <a:srgbClr val="272525">
              <a:alpha val="50000"/>
            </a:srgbClr>
          </a:solidFill>
          <a:ln/>
        </p:spPr>
      </p:sp>
      <p:sp>
        <p:nvSpPr>
          <p:cNvPr id="6" name="Text 3"/>
          <p:cNvSpPr/>
          <p:nvPr/>
        </p:nvSpPr>
        <p:spPr>
          <a:xfrm>
            <a:off x="496119" y="3325416"/>
            <a:ext cx="5179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Kriti | AI Engineering Bootcamp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509215"/>
            <a:ext cx="6630888" cy="380702"/>
          </a:xfrm>
          <a:prstGeom prst="rect">
            <a:avLst/>
          </a:prstGeom>
          <a:noFill/>
          <a:ln/>
        </p:spPr>
        <p:txBody>
          <a:bodyPr wrap="none" lIns="0" tIns="0" rIns="0" bIns="0" rtlCol="0" anchor="t"/>
          <a:lstStyle/>
          <a:p>
            <a:pPr algn="l" indent="0" marL="0">
              <a:lnSpc>
                <a:spcPct val="104000"/>
              </a:lnSpc>
              <a:buNone/>
            </a:pPr>
            <a:r>
              <a:rPr lang="en-US" sz="2350" b="1" dirty="0">
                <a:solidFill>
                  <a:srgbClr val="000000"/>
                </a:solidFill>
                <a:latin typeface="Inter Bold" pitchFamily="34" charset="0"/>
                <a:ea typeface="Inter Bold" pitchFamily="34" charset="-122"/>
                <a:cs typeface="Inter Bold" pitchFamily="34" charset="-120"/>
              </a:rPr>
              <a:t>Exploring the Data</a:t>
            </a:r>
            <a:endParaRPr lang="en-US" sz="2350" dirty="0"/>
          </a:p>
        </p:txBody>
      </p:sp>
      <p:sp>
        <p:nvSpPr>
          <p:cNvPr id="3" name="Text 1"/>
          <p:cNvSpPr/>
          <p:nvPr/>
        </p:nvSpPr>
        <p:spPr>
          <a:xfrm>
            <a:off x="7428979" y="498797"/>
            <a:ext cx="1680790" cy="181198"/>
          </a:xfrm>
          <a:prstGeom prst="rect">
            <a:avLst/>
          </a:prstGeom>
          <a:noFill/>
          <a:ln/>
        </p:spPr>
        <p:txBody>
          <a:bodyPr wrap="none" lIns="0" tIns="0" rIns="0" bIns="0" rtlCol="0" anchor="t"/>
          <a:lstStyle/>
          <a:p>
            <a:pPr algn="l" indent="0" marL="0">
              <a:lnSpc>
                <a:spcPct val="124000"/>
              </a:lnSpc>
              <a:buNone/>
            </a:pPr>
            <a:endParaRPr lang="en-US" sz="950" dirty="0"/>
          </a:p>
        </p:txBody>
      </p:sp>
      <p:sp>
        <p:nvSpPr>
          <p:cNvPr id="4" name="Text 2"/>
          <p:cNvSpPr/>
          <p:nvPr/>
        </p:nvSpPr>
        <p:spPr>
          <a:xfrm>
            <a:off x="496119" y="1112267"/>
            <a:ext cx="8151763" cy="399008"/>
          </a:xfrm>
          <a:prstGeom prst="rect">
            <a:avLst/>
          </a:prstGeom>
          <a:noFill/>
          <a:ln/>
        </p:spPr>
        <p:txBody>
          <a:bodyPr wrap="square" lIns="0" tIns="0" rIns="0" bIns="0" rtlCol="0" anchor="t">
            <a:normAutofit/>
          </a:bodyPr>
          <a:lstStyle/>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Checked label balance, text length distributions, date relevance</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Found data leakage: subject column perfectly predict the label → dropped</a:t>
            </a:r>
            <a:endParaRPr lang="en-US" sz="950" dirty="0"/>
          </a:p>
        </p:txBody>
      </p:sp>
      <p:pic>
        <p:nvPicPr>
          <p:cNvPr id="5" name="Image 0" descr="preencoded.png">    </p:cNvPr>
          <p:cNvPicPr>
            <a:picLocks noChangeAspect="1"/>
          </p:cNvPicPr>
          <p:nvPr/>
        </p:nvPicPr>
        <p:blipFill>
          <a:blip r:embed="rId1"/>
          <a:stretch>
            <a:fillRect/>
          </a:stretch>
        </p:blipFill>
        <p:spPr>
          <a:xfrm>
            <a:off x="496119" y="1746721"/>
            <a:ext cx="4846141" cy="2392338"/>
          </a:xfrm>
          <a:prstGeom prst="rect">
            <a:avLst/>
          </a:prstGeom>
        </p:spPr>
      </p:pic>
      <p:pic>
        <p:nvPicPr>
          <p:cNvPr id="6" name="Image 1" descr="preencoded.png">    </p:cNvPr>
          <p:cNvPicPr>
            <a:picLocks noChangeAspect="1"/>
          </p:cNvPicPr>
          <p:nvPr/>
        </p:nvPicPr>
        <p:blipFill>
          <a:blip r:embed="rId2"/>
          <a:stretch>
            <a:fillRect/>
          </a:stretch>
        </p:blipFill>
        <p:spPr>
          <a:xfrm>
            <a:off x="6584082" y="1746721"/>
            <a:ext cx="2068488" cy="1085106"/>
          </a:xfrm>
          <a:prstGeom prst="rect">
            <a:avLst/>
          </a:prstGeom>
        </p:spPr>
      </p:pic>
      <p:sp>
        <p:nvSpPr>
          <p:cNvPr id="7" name="Text 3"/>
          <p:cNvSpPr/>
          <p:nvPr/>
        </p:nvSpPr>
        <p:spPr>
          <a:xfrm>
            <a:off x="6584082" y="2949550"/>
            <a:ext cx="2525688" cy="181198"/>
          </a:xfrm>
          <a:prstGeom prst="rect">
            <a:avLst/>
          </a:prstGeom>
          <a:noFill/>
          <a:ln/>
        </p:spPr>
        <p:txBody>
          <a:bodyPr wrap="none" lIns="0" tIns="0" rIns="0" bIns="0" rtlCol="0" anchor="t"/>
          <a:lstStyle/>
          <a:p>
            <a:pPr algn="l" indent="0" marL="0">
              <a:lnSpc>
                <a:spcPct val="124000"/>
              </a:lnSpc>
              <a:buNone/>
            </a:pPr>
            <a:endParaRPr lang="en-US" sz="950" dirty="0"/>
          </a:p>
        </p:txBody>
      </p:sp>
      <p:pic>
        <p:nvPicPr>
          <p:cNvPr id="8" name="Image 2" descr="preencoded.png">    </p:cNvPr>
          <p:cNvPicPr>
            <a:picLocks noChangeAspect="1"/>
          </p:cNvPicPr>
          <p:nvPr/>
        </p:nvPicPr>
        <p:blipFill>
          <a:blip r:embed="rId3"/>
          <a:stretch>
            <a:fillRect/>
          </a:stretch>
        </p:blipFill>
        <p:spPr>
          <a:xfrm>
            <a:off x="6584082" y="3248471"/>
            <a:ext cx="2068488" cy="892522"/>
          </a:xfrm>
          <a:prstGeom prst="rect">
            <a:avLst/>
          </a:prstGeom>
        </p:spPr>
      </p:pic>
      <p:sp>
        <p:nvSpPr>
          <p:cNvPr id="9" name="Text 4"/>
          <p:cNvSpPr/>
          <p:nvPr/>
        </p:nvSpPr>
        <p:spPr>
          <a:xfrm>
            <a:off x="496119" y="4376440"/>
            <a:ext cx="8151763" cy="362396"/>
          </a:xfrm>
          <a:prstGeom prst="rect">
            <a:avLst/>
          </a:prstGeom>
          <a:noFill/>
          <a:ln/>
        </p:spPr>
        <p:txBody>
          <a:bodyPr wrap="square" lIns="0" tIns="0" rIns="0" bIns="0" rtlCol="0" anchor="t">
            <a:normAutofit/>
          </a:bodyPr>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The subject distribution plot show that the subject field was strongly correlated with the target label. This confirms that the feature introduced leakage and should be excluded to prevent inflated model performance.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From Raw Text to Features</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Methodology:</a:t>
            </a:r>
            <a:endParaRPr lang="en-US" sz="550" dirty="0"/>
          </a:p>
        </p:txBody>
      </p:sp>
      <p:sp>
        <p:nvSpPr>
          <p:cNvPr id="4" name="Text 2"/>
          <p:cNvSpPr/>
          <p:nvPr/>
        </p:nvSpPr>
        <p:spPr>
          <a:xfrm>
            <a:off x="496119" y="807021"/>
            <a:ext cx="8151763" cy="474687"/>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Text cleaning: remove HTML/URLs/special characters, tokenize, remove stopwords, lemmatize</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Preprocess text data: clean title and text column </a:t>
            </a:r>
            <a:pPr algn="l" marL="111760" indent="-111760">
              <a:lnSpc>
                <a:spcPct val="100000"/>
              </a:lnSpc>
              <a:buSzPct val="100000"/>
              <a:buChar char="•"/>
            </a:pPr>
            <a:r>
              <a:rPr lang="en-US" sz="550" i="1" dirty="0">
                <a:solidFill>
                  <a:srgbClr val="5CC97B"/>
                </a:solidFill>
                <a:latin typeface="Inter" pitchFamily="34" charset="0"/>
                <a:ea typeface="Inter" pitchFamily="34" charset="-122"/>
                <a:cs typeface="Inter" pitchFamily="34" charset="-120"/>
              </a:rPr>
              <a:t>seperately</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Feature extraction methods compared: Bag of Words (BoW), TF-IDF, Word2Vec (averaged embeddings)</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Models compared: Logistic Regression, Naive Bayes, Random Forest, SVM</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Reusable training/evaluation pipeline logs every model × feature-method combination</a:t>
            </a:r>
            <a:endParaRPr lang="en-US" sz="550" dirty="0"/>
          </a:p>
        </p:txBody>
      </p:sp>
      <p:pic>
        <p:nvPicPr>
          <p:cNvPr id="5" name="Image 0" descr="preencoded.png">    </p:cNvPr>
          <p:cNvPicPr>
            <a:picLocks noChangeAspect="1"/>
          </p:cNvPicPr>
          <p:nvPr/>
        </p:nvPicPr>
        <p:blipFill>
          <a:blip r:embed="rId1"/>
          <a:stretch>
            <a:fillRect/>
          </a:stretch>
        </p:blipFill>
        <p:spPr>
          <a:xfrm>
            <a:off x="496119" y="1321519"/>
            <a:ext cx="8151763" cy="3521125"/>
          </a:xfrm>
          <a:prstGeom prst="rect">
            <a:avLst/>
          </a:prstGeom>
        </p:spPr>
      </p:pic>
      <p:sp>
        <p:nvSpPr>
          <p:cNvPr id="6" name="Text 3"/>
          <p:cNvSpPr/>
          <p:nvPr/>
        </p:nvSpPr>
        <p:spPr>
          <a:xfrm>
            <a:off x="2441329" y="3975898"/>
            <a:ext cx="1210397" cy="220450"/>
          </a:xfrm>
          <a:prstGeom prst="rect">
            <a:avLst/>
          </a:prstGeom>
          <a:noFill/>
          <a:ln/>
        </p:spPr>
        <p:txBody>
          <a:bodyPr wrap="none" lIns="0" tIns="0" rIns="0" bIns="0" rtlCol="0" anchor="t"/>
          <a:lstStyle/>
          <a:p>
            <a:pPr algn="ctr"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Split Data</a:t>
            </a:r>
            <a:endParaRPr lang="en-US" sz="1350" dirty="0"/>
          </a:p>
        </p:txBody>
      </p:sp>
      <p:sp>
        <p:nvSpPr>
          <p:cNvPr id="7" name="Text 4"/>
          <p:cNvSpPr/>
          <p:nvPr/>
        </p:nvSpPr>
        <p:spPr>
          <a:xfrm>
            <a:off x="2441329" y="4259055"/>
            <a:ext cx="1210397" cy="264541"/>
          </a:xfrm>
          <a:prstGeom prst="rect">
            <a:avLst/>
          </a:prstGeom>
          <a:noFill/>
          <a:ln/>
        </p:spPr>
        <p:txBody>
          <a:bodyPr wrap="square" lIns="0" tIns="0" rIns="0" bIns="0" rtlCol="0" anchor="t">
            <a:normAutofit/>
          </a:bodyPr>
          <a:lstStyle/>
          <a:p>
            <a:pPr algn="ctr" indent="0" marL="0">
              <a:lnSpc>
                <a:spcPct val="78000"/>
              </a:lnSpc>
              <a:buNone/>
            </a:pPr>
            <a:r>
              <a:rPr lang="en-US" sz="1100" dirty="0">
                <a:solidFill>
                  <a:srgbClr val="272525"/>
                </a:solidFill>
                <a:latin typeface="Inter" pitchFamily="34" charset="0"/>
                <a:ea typeface="Inter" pitchFamily="34" charset="-122"/>
                <a:cs typeface="Inter" pitchFamily="34" charset="-120"/>
              </a:rPr>
              <a:t>Train/test partitions</a:t>
            </a:r>
            <a:endParaRPr lang="en-US" sz="1100" dirty="0"/>
          </a:p>
        </p:txBody>
      </p:sp>
      <p:sp>
        <p:nvSpPr>
          <p:cNvPr id="8" name="Text 5"/>
          <p:cNvSpPr/>
          <p:nvPr/>
        </p:nvSpPr>
        <p:spPr>
          <a:xfrm>
            <a:off x="5549316" y="3623177"/>
            <a:ext cx="1210397" cy="440901"/>
          </a:xfrm>
          <a:prstGeom prst="rect">
            <a:avLst/>
          </a:prstGeom>
          <a:noFill/>
          <a:ln/>
        </p:spPr>
        <p:txBody>
          <a:bodyPr wrap="square" lIns="0" tIns="0" rIns="0" bIns="0" rtlCol="0" anchor="t">
            <a:normAutofit/>
          </a:bodyPr>
          <a:lstStyle/>
          <a:p>
            <a:pPr algn="ctr"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Feature Extraction</a:t>
            </a:r>
            <a:endParaRPr lang="en-US" sz="1350" dirty="0"/>
          </a:p>
        </p:txBody>
      </p:sp>
      <p:sp>
        <p:nvSpPr>
          <p:cNvPr id="9" name="Text 6"/>
          <p:cNvSpPr/>
          <p:nvPr/>
        </p:nvSpPr>
        <p:spPr>
          <a:xfrm>
            <a:off x="5549316" y="4126784"/>
            <a:ext cx="1210397" cy="396811"/>
          </a:xfrm>
          <a:prstGeom prst="rect">
            <a:avLst/>
          </a:prstGeom>
          <a:noFill/>
          <a:ln/>
        </p:spPr>
        <p:txBody>
          <a:bodyPr wrap="square" lIns="0" tIns="0" rIns="0" bIns="0" rtlCol="0" anchor="t">
            <a:normAutofit/>
          </a:bodyPr>
          <a:lstStyle/>
          <a:p>
            <a:pPr algn="ctr" indent="0" marL="0">
              <a:lnSpc>
                <a:spcPct val="78000"/>
              </a:lnSpc>
              <a:buNone/>
            </a:pPr>
            <a:r>
              <a:rPr lang="en-US" sz="1100" dirty="0">
                <a:solidFill>
                  <a:srgbClr val="272525"/>
                </a:solidFill>
                <a:latin typeface="Inter" pitchFamily="34" charset="0"/>
                <a:ea typeface="Inter" pitchFamily="34" charset="-122"/>
                <a:cs typeface="Inter" pitchFamily="34" charset="-120"/>
              </a:rPr>
              <a:t>BoW, TF‑IDF, Word2Vec embeddings</a:t>
            </a:r>
            <a:endParaRPr lang="en-US" sz="1100" dirty="0"/>
          </a:p>
        </p:txBody>
      </p:sp>
      <p:sp>
        <p:nvSpPr>
          <p:cNvPr id="10" name="Text 7"/>
          <p:cNvSpPr/>
          <p:nvPr/>
        </p:nvSpPr>
        <p:spPr>
          <a:xfrm>
            <a:off x="891193" y="1639243"/>
            <a:ext cx="1210397" cy="220451"/>
          </a:xfrm>
          <a:prstGeom prst="rect">
            <a:avLst/>
          </a:prstGeom>
          <a:noFill/>
          <a:ln/>
        </p:spPr>
        <p:txBody>
          <a:bodyPr wrap="none" lIns="0" tIns="0" rIns="0" bIns="0" rtlCol="0" anchor="t"/>
          <a:lstStyle/>
          <a:p>
            <a:pPr algn="ctr"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Raw Text</a:t>
            </a:r>
            <a:endParaRPr lang="en-US" sz="1350" dirty="0"/>
          </a:p>
        </p:txBody>
      </p:sp>
      <p:sp>
        <p:nvSpPr>
          <p:cNvPr id="11" name="Text 8"/>
          <p:cNvSpPr/>
          <p:nvPr/>
        </p:nvSpPr>
        <p:spPr>
          <a:xfrm>
            <a:off x="891193" y="1922400"/>
            <a:ext cx="1210397" cy="396811"/>
          </a:xfrm>
          <a:prstGeom prst="rect">
            <a:avLst/>
          </a:prstGeom>
          <a:noFill/>
          <a:ln/>
        </p:spPr>
        <p:txBody>
          <a:bodyPr wrap="square" lIns="0" tIns="0" rIns="0" bIns="0" rtlCol="0" anchor="t">
            <a:normAutofit/>
          </a:bodyPr>
          <a:lstStyle/>
          <a:p>
            <a:pPr algn="ctr" indent="0" marL="0">
              <a:lnSpc>
                <a:spcPct val="78000"/>
              </a:lnSpc>
              <a:buNone/>
            </a:pPr>
            <a:r>
              <a:rPr lang="en-US" sz="1100" dirty="0">
                <a:solidFill>
                  <a:srgbClr val="272525"/>
                </a:solidFill>
                <a:latin typeface="Inter" pitchFamily="34" charset="0"/>
                <a:ea typeface="Inter" pitchFamily="34" charset="-122"/>
                <a:cs typeface="Inter" pitchFamily="34" charset="-120"/>
              </a:rPr>
              <a:t>Collect unprocessed text data</a:t>
            </a:r>
            <a:endParaRPr lang="en-US" sz="1100" dirty="0"/>
          </a:p>
        </p:txBody>
      </p:sp>
      <p:sp>
        <p:nvSpPr>
          <p:cNvPr id="12" name="Text 9"/>
          <p:cNvSpPr/>
          <p:nvPr/>
        </p:nvSpPr>
        <p:spPr>
          <a:xfrm>
            <a:off x="7053279" y="1639243"/>
            <a:ext cx="1210397" cy="440901"/>
          </a:xfrm>
          <a:prstGeom prst="rect">
            <a:avLst/>
          </a:prstGeom>
          <a:noFill/>
          <a:ln/>
        </p:spPr>
        <p:txBody>
          <a:bodyPr wrap="square" lIns="0" tIns="0" rIns="0" bIns="0" rtlCol="0" anchor="t">
            <a:normAutofit/>
          </a:bodyPr>
          <a:lstStyle/>
          <a:p>
            <a:pPr algn="ctr"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Model Training</a:t>
            </a:r>
            <a:endParaRPr lang="en-US" sz="1350" dirty="0"/>
          </a:p>
        </p:txBody>
      </p:sp>
      <p:sp>
        <p:nvSpPr>
          <p:cNvPr id="13" name="Text 10"/>
          <p:cNvSpPr/>
          <p:nvPr/>
        </p:nvSpPr>
        <p:spPr>
          <a:xfrm>
            <a:off x="7053279" y="2142851"/>
            <a:ext cx="1210397" cy="396811"/>
          </a:xfrm>
          <a:prstGeom prst="rect">
            <a:avLst/>
          </a:prstGeom>
          <a:noFill/>
          <a:ln/>
        </p:spPr>
        <p:txBody>
          <a:bodyPr wrap="square" lIns="0" tIns="0" rIns="0" bIns="0" rtlCol="0" anchor="t">
            <a:normAutofit/>
          </a:bodyPr>
          <a:lstStyle/>
          <a:p>
            <a:pPr algn="ctr" indent="0" marL="0">
              <a:lnSpc>
                <a:spcPct val="78000"/>
              </a:lnSpc>
              <a:buNone/>
            </a:pPr>
            <a:r>
              <a:rPr lang="en-US" sz="1100" dirty="0">
                <a:solidFill>
                  <a:srgbClr val="272525"/>
                </a:solidFill>
                <a:latin typeface="Inter" pitchFamily="34" charset="0"/>
                <a:ea typeface="Inter" pitchFamily="34" charset="-122"/>
                <a:cs typeface="Inter" pitchFamily="34" charset="-120"/>
              </a:rPr>
              <a:t>Train and evaluate classifiers</a:t>
            </a:r>
            <a:endParaRPr lang="en-US" sz="1100" dirty="0"/>
          </a:p>
        </p:txBody>
      </p:sp>
      <p:sp>
        <p:nvSpPr>
          <p:cNvPr id="14" name="Text 11"/>
          <p:cNvSpPr/>
          <p:nvPr/>
        </p:nvSpPr>
        <p:spPr>
          <a:xfrm>
            <a:off x="4014612" y="1639243"/>
            <a:ext cx="1210397" cy="220451"/>
          </a:xfrm>
          <a:prstGeom prst="rect">
            <a:avLst/>
          </a:prstGeom>
          <a:noFill/>
          <a:ln/>
        </p:spPr>
        <p:txBody>
          <a:bodyPr wrap="none" lIns="0" tIns="0" rIns="0" bIns="0" rtlCol="0" anchor="t"/>
          <a:lstStyle/>
          <a:p>
            <a:pPr algn="ctr"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Cleaning</a:t>
            </a:r>
            <a:endParaRPr lang="en-US" sz="1350" dirty="0"/>
          </a:p>
        </p:txBody>
      </p:sp>
      <p:sp>
        <p:nvSpPr>
          <p:cNvPr id="15" name="Text 12"/>
          <p:cNvSpPr/>
          <p:nvPr/>
        </p:nvSpPr>
        <p:spPr>
          <a:xfrm>
            <a:off x="4014612" y="1922400"/>
            <a:ext cx="1210397" cy="396811"/>
          </a:xfrm>
          <a:prstGeom prst="rect">
            <a:avLst/>
          </a:prstGeom>
          <a:noFill/>
          <a:ln/>
        </p:spPr>
        <p:txBody>
          <a:bodyPr wrap="square" lIns="0" tIns="0" rIns="0" bIns="0" rtlCol="0" anchor="t">
            <a:normAutofit/>
          </a:bodyPr>
          <a:lstStyle/>
          <a:p>
            <a:pPr algn="ctr" indent="0" marL="0">
              <a:lnSpc>
                <a:spcPct val="78000"/>
              </a:lnSpc>
              <a:buNone/>
            </a:pPr>
            <a:r>
              <a:rPr lang="en-US" sz="1100" dirty="0">
                <a:solidFill>
                  <a:srgbClr val="272525"/>
                </a:solidFill>
                <a:latin typeface="Inter" pitchFamily="34" charset="0"/>
                <a:ea typeface="Inter" pitchFamily="34" charset="-122"/>
                <a:cs typeface="Inter" pitchFamily="34" charset="-120"/>
              </a:rPr>
              <a:t>Clean text and title columns separately</a:t>
            </a:r>
            <a:endParaRPr lang="en-US" sz="1100" dirty="0"/>
          </a:p>
        </p:txBody>
      </p:sp>
      <p:sp>
        <p:nvSpPr>
          <p:cNvPr id="16" name="Text 13"/>
          <p:cNvSpPr/>
          <p:nvPr/>
        </p:nvSpPr>
        <p:spPr>
          <a:xfrm>
            <a:off x="496119" y="4882455"/>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Note: All models were automatically saved and results logged for comparison and reproducibility</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96701"/>
            <a:ext cx="8151763" cy="346100"/>
          </a:xfrm>
          <a:prstGeom prst="rect">
            <a:avLst/>
          </a:prstGeom>
          <a:noFill/>
          <a:ln/>
        </p:spPr>
        <p:txBody>
          <a:bodyPr wrap="none" lIns="0" tIns="0" rIns="0" bIns="0" rtlCol="0" anchor="t"/>
          <a:lstStyle/>
          <a:p>
            <a:pPr algn="l" indent="0" marL="0">
              <a:lnSpc>
                <a:spcPct val="104000"/>
              </a:lnSpc>
              <a:buNone/>
            </a:pPr>
            <a:r>
              <a:rPr lang="en-US" sz="2150" b="1" dirty="0">
                <a:solidFill>
                  <a:srgbClr val="000000"/>
                </a:solidFill>
                <a:latin typeface="Inter Bold" pitchFamily="34" charset="0"/>
                <a:ea typeface="Inter Bold" pitchFamily="34" charset="-122"/>
                <a:cs typeface="Inter Bold" pitchFamily="34" charset="-120"/>
              </a:rPr>
              <a:t>Overfitting Analysis and Dataset Quality Assessment</a:t>
            </a:r>
            <a:endParaRPr lang="en-US" sz="2150" dirty="0"/>
          </a:p>
        </p:txBody>
      </p:sp>
      <p:pic>
        <p:nvPicPr>
          <p:cNvPr id="3" name="Image 0" descr="preencoded.png">    </p:cNvPr>
          <p:cNvPicPr>
            <a:picLocks noChangeAspect="1"/>
          </p:cNvPicPr>
          <p:nvPr/>
        </p:nvPicPr>
        <p:blipFill>
          <a:blip r:embed="rId1"/>
          <a:stretch>
            <a:fillRect/>
          </a:stretch>
        </p:blipFill>
        <p:spPr>
          <a:xfrm>
            <a:off x="2178100" y="915814"/>
            <a:ext cx="4787801" cy="2841575"/>
          </a:xfrm>
          <a:prstGeom prst="rect">
            <a:avLst/>
          </a:prstGeom>
        </p:spPr>
      </p:pic>
      <p:sp>
        <p:nvSpPr>
          <p:cNvPr id="4" name="Text 1"/>
          <p:cNvSpPr/>
          <p:nvPr/>
        </p:nvSpPr>
        <p:spPr>
          <a:xfrm>
            <a:off x="5510481" y="3098270"/>
            <a:ext cx="1190138" cy="229265"/>
          </a:xfrm>
          <a:prstGeom prst="rect">
            <a:avLst/>
          </a:prstGeom>
          <a:noFill/>
          <a:ln/>
        </p:spPr>
        <p:txBody>
          <a:bodyPr wrap="none" lIns="0" tIns="0" rIns="0" bIns="0" rtlCol="0" anchor="t"/>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Retrain Raw</a:t>
            </a:r>
            <a:endParaRPr lang="en-US" sz="1400" dirty="0"/>
          </a:p>
        </p:txBody>
      </p:sp>
      <p:sp>
        <p:nvSpPr>
          <p:cNvPr id="5" name="Text 2"/>
          <p:cNvSpPr/>
          <p:nvPr/>
        </p:nvSpPr>
        <p:spPr>
          <a:xfrm>
            <a:off x="4010581" y="2869005"/>
            <a:ext cx="1190138" cy="687794"/>
          </a:xfrm>
          <a:prstGeom prst="rect">
            <a:avLst/>
          </a:prstGeom>
          <a:noFill/>
          <a:ln/>
        </p:spPr>
        <p:txBody>
          <a:bodyPr wrap="square" lIns="0" tIns="0" rIns="0" bIns="0" rtlCol="0" anchor="t">
            <a:normAutofit/>
          </a:bodyPr>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Overfitting/ Data Leakage</a:t>
            </a:r>
            <a:endParaRPr lang="en-US" sz="1400" dirty="0"/>
          </a:p>
        </p:txBody>
      </p:sp>
      <p:sp>
        <p:nvSpPr>
          <p:cNvPr id="6" name="Text 3"/>
          <p:cNvSpPr/>
          <p:nvPr/>
        </p:nvSpPr>
        <p:spPr>
          <a:xfrm>
            <a:off x="2486226" y="3098270"/>
            <a:ext cx="1190138" cy="229265"/>
          </a:xfrm>
          <a:prstGeom prst="rect">
            <a:avLst/>
          </a:prstGeom>
          <a:noFill/>
          <a:ln/>
        </p:spPr>
        <p:txBody>
          <a:bodyPr wrap="none" lIns="0" tIns="0" rIns="0" bIns="0" rtlCol="0" anchor="t"/>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High Metrics</a:t>
            </a:r>
            <a:endParaRPr lang="en-US" sz="1400" dirty="0"/>
          </a:p>
        </p:txBody>
      </p:sp>
      <p:sp>
        <p:nvSpPr>
          <p:cNvPr id="7" name="Text 4"/>
          <p:cNvSpPr/>
          <p:nvPr/>
        </p:nvSpPr>
        <p:spPr>
          <a:xfrm>
            <a:off x="496119" y="3854723"/>
            <a:ext cx="8608963" cy="157758"/>
          </a:xfrm>
          <a:prstGeom prst="rect">
            <a:avLst/>
          </a:prstGeom>
          <a:noFill/>
          <a:ln/>
        </p:spPr>
        <p:txBody>
          <a:bodyPr wrap="none" lIns="0" tIns="0" rIns="0" bIns="0" rtlCol="0" anchor="t"/>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This models gave unusually strong results, raised an overfitting/ data leakage concern, and then confirmed that raw data still performed extremely well.</a:t>
            </a:r>
            <a:endParaRPr lang="en-US" sz="850" dirty="0"/>
          </a:p>
        </p:txBody>
      </p:sp>
      <p:sp>
        <p:nvSpPr>
          <p:cNvPr id="8" name="Shape 5"/>
          <p:cNvSpPr/>
          <p:nvPr/>
        </p:nvSpPr>
        <p:spPr>
          <a:xfrm>
            <a:off x="496119" y="4109814"/>
            <a:ext cx="8151763" cy="636910"/>
          </a:xfrm>
          <a:prstGeom prst="roundRect">
            <a:avLst>
              <a:gd name="adj" fmla="val 7304"/>
            </a:avLst>
          </a:prstGeom>
          <a:solidFill>
            <a:srgbClr val="DADBF1"/>
          </a:solidFill>
          <a:ln/>
        </p:spPr>
      </p:sp>
      <p:pic>
        <p:nvPicPr>
          <p:cNvPr id="9" name="Image 1" descr="preencoded.png">    </p:cNvPr>
          <p:cNvPicPr>
            <a:picLocks noChangeAspect="1"/>
          </p:cNvPicPr>
          <p:nvPr/>
        </p:nvPicPr>
        <p:blipFill>
          <a:blip r:embed="rId2"/>
          <a:stretch>
            <a:fillRect/>
          </a:stretch>
        </p:blipFill>
        <p:spPr>
          <a:xfrm>
            <a:off x="606847" y="4236169"/>
            <a:ext cx="173013" cy="138410"/>
          </a:xfrm>
          <a:prstGeom prst="rect">
            <a:avLst/>
          </a:prstGeom>
        </p:spPr>
      </p:pic>
      <p:sp>
        <p:nvSpPr>
          <p:cNvPr id="10" name="Text 6"/>
          <p:cNvSpPr/>
          <p:nvPr/>
        </p:nvSpPr>
        <p:spPr>
          <a:xfrm>
            <a:off x="890588" y="4223965"/>
            <a:ext cx="7646566" cy="173013"/>
          </a:xfrm>
          <a:prstGeom prst="rect">
            <a:avLst/>
          </a:prstGeom>
          <a:noFill/>
          <a:ln/>
        </p:spPr>
        <p:txBody>
          <a:bodyPr wrap="none" lIns="0" tIns="0" rIns="0" bIns="0" rtlCol="0" anchor="t"/>
          <a:lstStyle/>
          <a:p>
            <a:pPr algn="l" indent="0" marL="0">
              <a:lnSpc>
                <a:spcPct val="104000"/>
              </a:lnSpc>
              <a:buNone/>
            </a:pPr>
            <a:r>
              <a:rPr lang="en-US" sz="1050" b="1" dirty="0">
                <a:solidFill>
                  <a:srgbClr val="000000"/>
                </a:solidFill>
                <a:latin typeface="Inter Bold" pitchFamily="34" charset="0"/>
                <a:ea typeface="Inter Bold" pitchFamily="34" charset="-122"/>
                <a:cs typeface="Inter Bold" pitchFamily="34" charset="-120"/>
              </a:rPr>
              <a:t>Dataset Quality &gt; Memorization</a:t>
            </a:r>
            <a:endParaRPr lang="en-US" sz="1050" dirty="0"/>
          </a:p>
        </p:txBody>
      </p:sp>
      <p:sp>
        <p:nvSpPr>
          <p:cNvPr id="11" name="Text 7"/>
          <p:cNvSpPr/>
          <p:nvPr/>
        </p:nvSpPr>
        <p:spPr>
          <a:xfrm>
            <a:off x="890588" y="4483447"/>
            <a:ext cx="8103766" cy="157758"/>
          </a:xfrm>
          <a:prstGeom prst="rect">
            <a:avLst/>
          </a:prstGeom>
          <a:noFill/>
          <a:ln/>
        </p:spPr>
        <p:txBody>
          <a:bodyPr wrap="none" lIns="0" tIns="0" rIns="0" bIns="0" rtlCol="0" anchor="t"/>
          <a:lstStyle/>
          <a:p>
            <a:pPr algn="l" indent="0" marL="0">
              <a:lnSpc>
                <a:spcPct val="119000"/>
              </a:lnSpc>
              <a:buNone/>
            </a:pPr>
            <a:r>
              <a:rPr lang="en-US" sz="850" dirty="0">
                <a:solidFill>
                  <a:srgbClr val="000000"/>
                </a:solidFill>
                <a:latin typeface="Inter" pitchFamily="34" charset="0"/>
                <a:ea typeface="Inter" pitchFamily="34" charset="-122"/>
                <a:cs typeface="Inter" pitchFamily="34" charset="-120"/>
              </a:rPr>
              <a:t>Small train-test gap = good generalization.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13221"/>
            <a:ext cx="8151763" cy="228451"/>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Inter Bold" pitchFamily="34" charset="0"/>
                <a:ea typeface="Inter Bold" pitchFamily="34" charset="-122"/>
                <a:cs typeface="Inter Bold" pitchFamily="34" charset="-120"/>
              </a:rPr>
              <a:t>Comparing Models &amp; Feature Methods</a:t>
            </a:r>
            <a:endParaRPr lang="en-US" sz="1400" dirty="0"/>
          </a:p>
        </p:txBody>
      </p:sp>
      <p:sp>
        <p:nvSpPr>
          <p:cNvPr id="3" name="Text 1"/>
          <p:cNvSpPr/>
          <p:nvPr/>
        </p:nvSpPr>
        <p:spPr>
          <a:xfrm>
            <a:off x="496119" y="717054"/>
            <a:ext cx="8151763" cy="292001"/>
          </a:xfrm>
          <a:prstGeom prst="rect">
            <a:avLst/>
          </a:prstGeom>
          <a:noFill/>
          <a:ln/>
        </p:spPr>
        <p:txBody>
          <a:bodyPr wrap="square" lIns="0" tIns="0" rIns="0" bIns="0" rtlCol="0" anchor="t">
            <a:normAutofit/>
          </a:bodyPr>
          <a:lstStyle/>
          <a:p>
            <a:pPr algn="l" marL="111760" indent="-111760">
              <a:lnSpc>
                <a:spcPct val="101000"/>
              </a:lnSpc>
              <a:buSzPct val="100000"/>
              <a:buChar char="•"/>
            </a:pPr>
            <a:r>
              <a:rPr lang="en-US" sz="550" dirty="0">
                <a:solidFill>
                  <a:srgbClr val="272525"/>
                </a:solidFill>
                <a:latin typeface="Inter" pitchFamily="34" charset="0"/>
                <a:ea typeface="Inter" pitchFamily="34" charset="-122"/>
                <a:cs typeface="Inter" pitchFamily="34" charset="-120"/>
              </a:rPr>
              <a:t>Best model: Random Forest + BoW (F1 score ≈ 0.999)</a:t>
            </a:r>
            <a:endParaRPr lang="en-US" sz="550" dirty="0"/>
          </a:p>
          <a:p>
            <a:pPr algn="l" marL="111760" indent="-111760">
              <a:lnSpc>
                <a:spcPct val="101000"/>
              </a:lnSpc>
              <a:buSzPct val="100000"/>
              <a:buChar char="•"/>
            </a:pPr>
            <a:r>
              <a:rPr lang="en-US" sz="550" dirty="0">
                <a:solidFill>
                  <a:srgbClr val="272525"/>
                </a:solidFill>
                <a:latin typeface="Inter" pitchFamily="34" charset="0"/>
                <a:ea typeface="Inter" pitchFamily="34" charset="-122"/>
                <a:cs typeface="Inter" pitchFamily="34" charset="-120"/>
              </a:rPr>
              <a:t>Logistic Regression + BoW strong baseline for comparison</a:t>
            </a:r>
            <a:endParaRPr lang="en-US" sz="550" dirty="0"/>
          </a:p>
          <a:p>
            <a:pPr algn="l" marL="111760" indent="-111760">
              <a:lnSpc>
                <a:spcPct val="101000"/>
              </a:lnSpc>
              <a:buSzPct val="100000"/>
              <a:buChar char="•"/>
            </a:pPr>
            <a:r>
              <a:rPr lang="en-US" sz="550" dirty="0">
                <a:solidFill>
                  <a:srgbClr val="272525"/>
                </a:solidFill>
                <a:latin typeface="Inter" pitchFamily="34" charset="0"/>
                <a:ea typeface="Inter" pitchFamily="34" charset="-122"/>
                <a:cs typeface="Inter" pitchFamily="34" charset="-120"/>
              </a:rPr>
              <a:t>Bag of Words consistently outperformed TF-IDF and Word2Vec across models</a:t>
            </a:r>
            <a:endParaRPr lang="en-US" sz="550" dirty="0"/>
          </a:p>
        </p:txBody>
      </p:sp>
      <p:pic>
        <p:nvPicPr>
          <p:cNvPr id="4" name="Image 0" descr="preencoded.png">    </p:cNvPr>
          <p:cNvPicPr>
            <a:picLocks noChangeAspect="1"/>
          </p:cNvPicPr>
          <p:nvPr/>
        </p:nvPicPr>
        <p:blipFill>
          <a:blip r:embed="rId1"/>
          <a:stretch>
            <a:fillRect/>
          </a:stretch>
        </p:blipFill>
        <p:spPr>
          <a:xfrm>
            <a:off x="496119" y="1051396"/>
            <a:ext cx="4075212" cy="1402556"/>
          </a:xfrm>
          <a:prstGeom prst="rect">
            <a:avLst/>
          </a:prstGeom>
        </p:spPr>
      </p:pic>
      <p:pic>
        <p:nvPicPr>
          <p:cNvPr id="5" name="Image 1" descr="preencoded.png">    </p:cNvPr>
          <p:cNvPicPr>
            <a:picLocks noChangeAspect="1"/>
          </p:cNvPicPr>
          <p:nvPr/>
        </p:nvPicPr>
        <p:blipFill>
          <a:blip r:embed="rId2"/>
          <a:stretch>
            <a:fillRect/>
          </a:stretch>
        </p:blipFill>
        <p:spPr>
          <a:xfrm>
            <a:off x="496119" y="2496294"/>
            <a:ext cx="6309271" cy="22339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Model Selection and Final Decision</a:t>
            </a:r>
            <a:endParaRPr lang="en-US" sz="1350" dirty="0"/>
          </a:p>
        </p:txBody>
      </p:sp>
      <p:sp>
        <p:nvSpPr>
          <p:cNvPr id="3" name="Text 1"/>
          <p:cNvSpPr/>
          <p:nvPr/>
        </p:nvSpPr>
        <p:spPr>
          <a:xfrm>
            <a:off x="496119" y="682154"/>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FFA44F"/>
                </a:solidFill>
                <a:latin typeface="Inter" pitchFamily="34" charset="0"/>
                <a:ea typeface="Inter" pitchFamily="34" charset="-122"/>
                <a:cs typeface="Inter" pitchFamily="34" charset="-120"/>
              </a:rPr>
              <a:t>Logistic Regression (BoW)</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was selected as the final model and winner, achieving an F1 score of </a:t>
            </a:r>
            <a:pPr algn="l" indent="0" marL="0">
              <a:lnSpc>
                <a:spcPct val="100000"/>
              </a:lnSpc>
              <a:buNone/>
            </a:pPr>
            <a:r>
              <a:rPr lang="en-US" sz="550" dirty="0">
                <a:solidFill>
                  <a:srgbClr val="FFA44F"/>
                </a:solidFill>
                <a:latin typeface="Inter" pitchFamily="34" charset="0"/>
                <a:ea typeface="Inter" pitchFamily="34" charset="-122"/>
                <a:cs typeface="Inter" pitchFamily="34" charset="-120"/>
              </a:rPr>
              <a:t>0.9966</a:t>
            </a:r>
            <a:endParaRPr lang="en-US" sz="550" dirty="0"/>
          </a:p>
        </p:txBody>
      </p:sp>
      <p:pic>
        <p:nvPicPr>
          <p:cNvPr id="4" name="Image 0" descr="preencoded.png">    </p:cNvPr>
          <p:cNvPicPr>
            <a:picLocks noChangeAspect="1"/>
          </p:cNvPicPr>
          <p:nvPr/>
        </p:nvPicPr>
        <p:blipFill>
          <a:blip r:embed="rId1"/>
          <a:stretch>
            <a:fillRect/>
          </a:stretch>
        </p:blipFill>
        <p:spPr>
          <a:xfrm>
            <a:off x="496119" y="807021"/>
            <a:ext cx="8151763" cy="4079900"/>
          </a:xfrm>
          <a:prstGeom prst="rect">
            <a:avLst/>
          </a:prstGeom>
        </p:spPr>
      </p:pic>
      <p:sp>
        <p:nvSpPr>
          <p:cNvPr id="5" name="Text 2"/>
          <p:cNvSpPr/>
          <p:nvPr/>
        </p:nvSpPr>
        <p:spPr>
          <a:xfrm>
            <a:off x="532818" y="2675448"/>
            <a:ext cx="1530980" cy="229036"/>
          </a:xfrm>
          <a:prstGeom prst="rect">
            <a:avLst/>
          </a:prstGeom>
          <a:noFill/>
          <a:ln/>
        </p:spPr>
        <p:txBody>
          <a:bodyPr wrap="none" lIns="0" tIns="0" rIns="0" bIns="0" rtlCol="0" anchor="t"/>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Low Complexity</a:t>
            </a:r>
            <a:endParaRPr lang="en-US" sz="1400" dirty="0"/>
          </a:p>
        </p:txBody>
      </p:sp>
      <p:sp>
        <p:nvSpPr>
          <p:cNvPr id="6" name="Text 3"/>
          <p:cNvSpPr/>
          <p:nvPr/>
        </p:nvSpPr>
        <p:spPr>
          <a:xfrm>
            <a:off x="3657636" y="4539548"/>
            <a:ext cx="1832290" cy="229036"/>
          </a:xfrm>
          <a:prstGeom prst="rect">
            <a:avLst/>
          </a:prstGeom>
          <a:noFill/>
          <a:ln/>
        </p:spPr>
        <p:txBody>
          <a:bodyPr wrap="none" lIns="0" tIns="0" rIns="0" bIns="0" rtlCol="0" anchor="t"/>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Lower Accuracy</a:t>
            </a:r>
            <a:endParaRPr lang="en-US" sz="1400" dirty="0"/>
          </a:p>
        </p:txBody>
      </p:sp>
      <p:sp>
        <p:nvSpPr>
          <p:cNvPr id="7" name="Text 4"/>
          <p:cNvSpPr/>
          <p:nvPr/>
        </p:nvSpPr>
        <p:spPr>
          <a:xfrm>
            <a:off x="7072058" y="2675448"/>
            <a:ext cx="1530980" cy="229036"/>
          </a:xfrm>
          <a:prstGeom prst="rect">
            <a:avLst/>
          </a:prstGeom>
          <a:noFill/>
          <a:ln/>
        </p:spPr>
        <p:txBody>
          <a:bodyPr wrap="none" lIns="0" tIns="0" rIns="0" bIns="0" rtlCol="0" anchor="t"/>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High Complexity</a:t>
            </a:r>
            <a:endParaRPr lang="en-US" sz="1400" dirty="0"/>
          </a:p>
        </p:txBody>
      </p:sp>
      <p:sp>
        <p:nvSpPr>
          <p:cNvPr id="8" name="Text 5"/>
          <p:cNvSpPr/>
          <p:nvPr/>
        </p:nvSpPr>
        <p:spPr>
          <a:xfrm>
            <a:off x="3653056" y="974471"/>
            <a:ext cx="1832290" cy="229036"/>
          </a:xfrm>
          <a:prstGeom prst="rect">
            <a:avLst/>
          </a:prstGeom>
          <a:noFill/>
          <a:ln/>
        </p:spPr>
        <p:txBody>
          <a:bodyPr wrap="none" lIns="0" tIns="0" rIns="0" bIns="0" rtlCol="0" anchor="t"/>
          <a:lstStyle/>
          <a:p>
            <a:pPr algn="ct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High Accuracy</a:t>
            </a:r>
            <a:endParaRPr lang="en-US" sz="1400" dirty="0"/>
          </a:p>
        </p:txBody>
      </p:sp>
      <p:sp>
        <p:nvSpPr>
          <p:cNvPr id="9" name="Text 6"/>
          <p:cNvSpPr/>
          <p:nvPr/>
        </p:nvSpPr>
        <p:spPr>
          <a:xfrm>
            <a:off x="2780427" y="3678627"/>
            <a:ext cx="1571698" cy="274844"/>
          </a:xfrm>
          <a:prstGeom prst="rect">
            <a:avLst/>
          </a:prstGeom>
          <a:noFill/>
          <a:ln/>
        </p:spPr>
        <p:txBody>
          <a:bodyPr wrap="square" lIns="0" tIns="0" rIns="0" bIns="0" rtlCol="0" anchor="t">
            <a:normAutofit/>
          </a:bodyPr>
          <a:lstStyle/>
          <a:p>
            <a:pPr algn="ctr" indent="0" marL="0">
              <a:lnSpc>
                <a:spcPct val="78000"/>
              </a:lnSpc>
              <a:buNone/>
            </a:pPr>
            <a:r>
              <a:rPr lang="en-US" sz="1150" dirty="0">
                <a:solidFill>
                  <a:srgbClr val="272525"/>
                </a:solidFill>
                <a:latin typeface="Inter" pitchFamily="34" charset="0"/>
                <a:ea typeface="Inter" pitchFamily="34" charset="-122"/>
                <a:cs typeface="Inter" pitchFamily="34" charset="-120"/>
              </a:rPr>
              <a:t>Efficient Choice — Selected for speed</a:t>
            </a:r>
            <a:endParaRPr lang="en-US" sz="1150" dirty="0"/>
          </a:p>
        </p:txBody>
      </p:sp>
      <p:sp>
        <p:nvSpPr>
          <p:cNvPr id="10" name="Text 7"/>
          <p:cNvSpPr/>
          <p:nvPr/>
        </p:nvSpPr>
        <p:spPr>
          <a:xfrm>
            <a:off x="4938458" y="3686770"/>
            <a:ext cx="1571698" cy="274844"/>
          </a:xfrm>
          <a:prstGeom prst="rect">
            <a:avLst/>
          </a:prstGeom>
          <a:noFill/>
          <a:ln/>
        </p:spPr>
        <p:txBody>
          <a:bodyPr wrap="square" lIns="0" tIns="0" rIns="0" bIns="0" rtlCol="0" anchor="t">
            <a:normAutofit/>
          </a:bodyPr>
          <a:lstStyle/>
          <a:p>
            <a:pPr algn="ctr" indent="0" marL="0">
              <a:lnSpc>
                <a:spcPct val="78000"/>
              </a:lnSpc>
              <a:buNone/>
            </a:pPr>
            <a:r>
              <a:rPr lang="en-US" sz="1150" dirty="0">
                <a:solidFill>
                  <a:srgbClr val="272525"/>
                </a:solidFill>
                <a:latin typeface="Inter" pitchFamily="34" charset="0"/>
                <a:ea typeface="Inter" pitchFamily="34" charset="-122"/>
                <a:cs typeface="Inter" pitchFamily="34" charset="-120"/>
              </a:rPr>
              <a:t>Max Performance — Slightly higher F1</a:t>
            </a:r>
            <a:endParaRPr lang="en-US" sz="1150" dirty="0"/>
          </a:p>
        </p:txBody>
      </p:sp>
      <p:sp>
        <p:nvSpPr>
          <p:cNvPr id="11" name="Text 8"/>
          <p:cNvSpPr/>
          <p:nvPr/>
        </p:nvSpPr>
        <p:spPr>
          <a:xfrm>
            <a:off x="4938458" y="2180220"/>
            <a:ext cx="1571698" cy="274844"/>
          </a:xfrm>
          <a:prstGeom prst="rect">
            <a:avLst/>
          </a:prstGeom>
          <a:noFill/>
          <a:ln/>
        </p:spPr>
        <p:txBody>
          <a:bodyPr wrap="square" lIns="0" tIns="0" rIns="0" bIns="0" rtlCol="0" anchor="t">
            <a:normAutofit/>
          </a:bodyPr>
          <a:lstStyle/>
          <a:p>
            <a:pPr algn="ctr" indent="0" marL="0">
              <a:lnSpc>
                <a:spcPct val="78000"/>
              </a:lnSpc>
              <a:buNone/>
            </a:pPr>
            <a:r>
              <a:rPr lang="en-US" sz="1150" dirty="0">
                <a:solidFill>
                  <a:srgbClr val="272525"/>
                </a:solidFill>
                <a:latin typeface="Inter" pitchFamily="34" charset="0"/>
                <a:ea typeface="Inter" pitchFamily="34" charset="-122"/>
                <a:cs typeface="Inter" pitchFamily="34" charset="-120"/>
              </a:rPr>
              <a:t>Random Forest (BoW) — F1 0.9986</a:t>
            </a:r>
            <a:endParaRPr lang="en-US" sz="1150" dirty="0"/>
          </a:p>
        </p:txBody>
      </p:sp>
      <p:sp>
        <p:nvSpPr>
          <p:cNvPr id="12" name="Text 9"/>
          <p:cNvSpPr/>
          <p:nvPr/>
        </p:nvSpPr>
        <p:spPr>
          <a:xfrm>
            <a:off x="2731566" y="2180220"/>
            <a:ext cx="1571698" cy="274844"/>
          </a:xfrm>
          <a:prstGeom prst="rect">
            <a:avLst/>
          </a:prstGeom>
          <a:noFill/>
          <a:ln/>
        </p:spPr>
        <p:txBody>
          <a:bodyPr wrap="square" lIns="0" tIns="0" rIns="0" bIns="0" rtlCol="0" anchor="t">
            <a:normAutofit/>
          </a:bodyPr>
          <a:lstStyle/>
          <a:p>
            <a:pPr algn="ctr" indent="0" marL="0">
              <a:lnSpc>
                <a:spcPct val="78000"/>
              </a:lnSpc>
              <a:buNone/>
            </a:pPr>
            <a:r>
              <a:rPr lang="en-US" sz="1150" dirty="0">
                <a:solidFill>
                  <a:srgbClr val="272525"/>
                </a:solidFill>
                <a:latin typeface="Inter" pitchFamily="34" charset="0"/>
                <a:ea typeface="Inter" pitchFamily="34" charset="-122"/>
                <a:cs typeface="Inter" pitchFamily="34" charset="-120"/>
              </a:rPr>
              <a:t>Logistic Regression (BoW) — F1 0.9966</a:t>
            </a:r>
            <a:endParaRPr lang="en-US" sz="1150" dirty="0"/>
          </a:p>
        </p:txBody>
      </p:sp>
      <p:sp>
        <p:nvSpPr>
          <p:cNvPr id="13" name="Shape 10"/>
          <p:cNvSpPr/>
          <p:nvPr/>
        </p:nvSpPr>
        <p:spPr>
          <a:xfrm>
            <a:off x="496119" y="4926732"/>
            <a:ext cx="8151763" cy="196155"/>
          </a:xfrm>
          <a:prstGeom prst="roundRect">
            <a:avLst>
              <a:gd name="adj" fmla="val 15177"/>
            </a:avLst>
          </a:prstGeom>
          <a:solidFill>
            <a:srgbClr val="DADBF1"/>
          </a:solidFill>
          <a:ln/>
        </p:spPr>
      </p:sp>
      <p:pic>
        <p:nvPicPr>
          <p:cNvPr id="14" name="Image 1" descr="preencoded.png">    </p:cNvPr>
          <p:cNvPicPr>
            <a:picLocks noChangeAspect="1"/>
          </p:cNvPicPr>
          <p:nvPr/>
        </p:nvPicPr>
        <p:blipFill>
          <a:blip r:embed="rId2"/>
          <a:stretch>
            <a:fillRect/>
          </a:stretch>
        </p:blipFill>
        <p:spPr>
          <a:xfrm>
            <a:off x="566961" y="5015285"/>
            <a:ext cx="88553" cy="70842"/>
          </a:xfrm>
          <a:prstGeom prst="rect">
            <a:avLst/>
          </a:prstGeom>
        </p:spPr>
      </p:pic>
      <p:sp>
        <p:nvSpPr>
          <p:cNvPr id="15" name="Text 11"/>
          <p:cNvSpPr/>
          <p:nvPr/>
        </p:nvSpPr>
        <p:spPr>
          <a:xfrm>
            <a:off x="726356" y="4979863"/>
            <a:ext cx="8307884" cy="85055"/>
          </a:xfrm>
          <a:prstGeom prst="rect">
            <a:avLst/>
          </a:prstGeom>
          <a:noFill/>
          <a:ln/>
        </p:spPr>
        <p:txBody>
          <a:bodyPr wrap="none" lIns="0" tIns="0" rIns="0" bIns="0" rtlCol="0" anchor="t"/>
          <a:lstStyle/>
          <a:p>
            <a:pPr algn="l" indent="0" marL="0">
              <a:lnSpc>
                <a:spcPct val="100000"/>
              </a:lnSpc>
              <a:buNone/>
            </a:pPr>
            <a:r>
              <a:rPr lang="en-US" sz="550" dirty="0">
                <a:solidFill>
                  <a:srgbClr val="000000"/>
                </a:solidFill>
                <a:latin typeface="Inter" pitchFamily="34" charset="0"/>
                <a:ea typeface="Inter" pitchFamily="34" charset="-122"/>
                <a:cs typeface="Inter" pitchFamily="34" charset="-120"/>
              </a:rPr>
              <a:t>Comparing these two models provides a trade-off analysis between speed and simplicity versus maximum predictive performance.</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03771"/>
            <a:ext cx="8151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Conclusion &amp; Key Takeaways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130275"/>
            <a:ext cx="4004965" cy="1733848"/>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92263" y="1253207"/>
            <a:ext cx="212601" cy="212601"/>
          </a:xfrm>
          <a:prstGeom prst="rect">
            <a:avLst/>
          </a:prstGeom>
        </p:spPr>
      </p:pic>
      <p:sp>
        <p:nvSpPr>
          <p:cNvPr id="5" name="Text 1"/>
          <p:cNvSpPr/>
          <p:nvPr/>
        </p:nvSpPr>
        <p:spPr>
          <a:xfrm>
            <a:off x="656927" y="1716360"/>
            <a:ext cx="3683347"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Full Text-Classification Pipeline</a:t>
            </a:r>
            <a:endParaRPr lang="en-US" sz="1350" dirty="0"/>
          </a:p>
        </p:txBody>
      </p:sp>
      <p:sp>
        <p:nvSpPr>
          <p:cNvPr id="6" name="Text 2"/>
          <p:cNvSpPr/>
          <p:nvPr/>
        </p:nvSpPr>
        <p:spPr>
          <a:xfrm>
            <a:off x="656927" y="2022872"/>
            <a:ext cx="368334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Built and compared a full text-classification pipeline: cleaning → 3 feature methods → 4 models → evaluation</a:t>
            </a:r>
            <a:endParaRPr lang="en-US" sz="110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42842" y="1130275"/>
            <a:ext cx="4005039" cy="1733848"/>
          </a:xfrm>
          <a:prstGeom prst="rect">
            <a:avLst/>
          </a:prstGeom>
        </p:spPr>
      </p:pic>
      <p:pic>
        <p:nvPicPr>
          <p:cNvPr id="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9061" y="1253207"/>
            <a:ext cx="212601" cy="212601"/>
          </a:xfrm>
          <a:prstGeom prst="rect">
            <a:avLst/>
          </a:prstGeom>
        </p:spPr>
      </p:pic>
      <p:sp>
        <p:nvSpPr>
          <p:cNvPr id="9" name="Text 3"/>
          <p:cNvSpPr/>
          <p:nvPr/>
        </p:nvSpPr>
        <p:spPr>
          <a:xfrm>
            <a:off x="4803651" y="1716360"/>
            <a:ext cx="36834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Feature Extraction Matters</a:t>
            </a:r>
            <a:endParaRPr lang="en-US" sz="1350" dirty="0"/>
          </a:p>
        </p:txBody>
      </p:sp>
      <p:sp>
        <p:nvSpPr>
          <p:cNvPr id="10" name="Text 4"/>
          <p:cNvSpPr/>
          <p:nvPr/>
        </p:nvSpPr>
        <p:spPr>
          <a:xfrm>
            <a:off x="4803651" y="2022872"/>
            <a:ext cx="3683422"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Learning: feature extraction choice mattered more than model choice here (BoW outperformed TF-IDF and Word2Vec across the board)</a:t>
            </a:r>
            <a:endParaRPr lang="en-US" sz="110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119" y="3005882"/>
            <a:ext cx="4004965" cy="1733848"/>
          </a:xfrm>
          <a:prstGeom prst="rect">
            <a:avLst/>
          </a:prstGeom>
        </p:spPr>
      </p:pic>
      <p:pic>
        <p:nvPicPr>
          <p:cNvPr id="1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92263" y="3128814"/>
            <a:ext cx="212601" cy="212601"/>
          </a:xfrm>
          <a:prstGeom prst="rect">
            <a:avLst/>
          </a:prstGeom>
        </p:spPr>
      </p:pic>
      <p:sp>
        <p:nvSpPr>
          <p:cNvPr id="13" name="Text 5"/>
          <p:cNvSpPr/>
          <p:nvPr/>
        </p:nvSpPr>
        <p:spPr>
          <a:xfrm>
            <a:off x="656927" y="3591967"/>
            <a:ext cx="3683347"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Beware of Data Leakage</a:t>
            </a:r>
            <a:endParaRPr lang="en-US" sz="1350" dirty="0"/>
          </a:p>
        </p:txBody>
      </p:sp>
      <p:sp>
        <p:nvSpPr>
          <p:cNvPr id="14" name="Text 6"/>
          <p:cNvSpPr/>
          <p:nvPr/>
        </p:nvSpPr>
        <p:spPr>
          <a:xfrm>
            <a:off x="656927" y="3898478"/>
            <a:ext cx="368334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Learning: always check for data leakage (subject/date almost gave away the label) before trusting high accuracy numbers</a:t>
            </a:r>
            <a:endParaRPr lang="en-US" sz="1100" dirty="0"/>
          </a:p>
        </p:txBody>
      </p:sp>
      <p:pic>
        <p:nvPicPr>
          <p:cNvPr id="1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42842" y="3005882"/>
            <a:ext cx="4005039" cy="1733848"/>
          </a:xfrm>
          <a:prstGeom prst="rect">
            <a:avLst/>
          </a:prstGeom>
        </p:spPr>
      </p:pic>
      <p:pic>
        <p:nvPicPr>
          <p:cNvPr id="1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39061" y="3128814"/>
            <a:ext cx="212601" cy="212601"/>
          </a:xfrm>
          <a:prstGeom prst="rect">
            <a:avLst/>
          </a:prstGeom>
        </p:spPr>
      </p:pic>
      <p:sp>
        <p:nvSpPr>
          <p:cNvPr id="17" name="Text 7"/>
          <p:cNvSpPr/>
          <p:nvPr/>
        </p:nvSpPr>
        <p:spPr>
          <a:xfrm>
            <a:off x="4803651" y="3591967"/>
            <a:ext cx="3683422"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Next Steps</a:t>
            </a:r>
            <a:endParaRPr lang="en-US" sz="1350" dirty="0"/>
          </a:p>
        </p:txBody>
      </p:sp>
      <p:sp>
        <p:nvSpPr>
          <p:cNvPr id="18" name="Text 8"/>
          <p:cNvSpPr/>
          <p:nvPr/>
        </p:nvSpPr>
        <p:spPr>
          <a:xfrm>
            <a:off x="4803651" y="3898478"/>
            <a:ext cx="368342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Next steps: try BERT/transformer embeddings, tune hyperparameters, deploy the app publicly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2026-07-10T14:02:02Z</dcterms:created>
  <dcterms:modified xsi:type="dcterms:W3CDTF">2026-07-10T14:02:02Z</dcterms:modified>
</cp:coreProperties>
</file>